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0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7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9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9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7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63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44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1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615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39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6079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67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43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1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4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70578" y="731520"/>
            <a:ext cx="38969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rPr sz="6000" dirty="0">
                <a:solidFill>
                  <a:srgbClr val="FF0000"/>
                </a:solidFill>
              </a:rPr>
              <a:t>TAJWEED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  <a:latin typeface="Aptos"/>
              </a:defRPr>
            </a:pPr>
            <a:r>
              <a:rPr dirty="0"/>
              <a:t>Qur’anic Recitation — Lecture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09728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644" y="2788920"/>
            <a:ext cx="102277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4000" dirty="0">
                <a:solidFill>
                  <a:srgbClr val="00B0F0"/>
                </a:solidFill>
              </a:rPr>
              <a:t>Definition, Need, Importance &amp; Basic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12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800" dirty="0"/>
              <a:t>By the end of this lecture, students will be able to:</a:t>
            </a:r>
          </a:p>
          <a:p>
            <a:pPr marL="457200" indent="-457200">
              <a:spcAft>
                <a:spcPts val="700"/>
              </a:spcAft>
              <a:buFont typeface="Wingdings" panose="05000000000000000000" pitchFamily="2" charset="2"/>
              <a:buChar char="v"/>
              <a:defRPr sz="2100">
                <a:solidFill>
                  <a:srgbClr val="282828"/>
                </a:solidFill>
                <a:latin typeface="Aptos"/>
              </a:defRPr>
            </a:pPr>
            <a:r>
              <a:rPr sz="2800" dirty="0"/>
              <a:t> Define Tajweed</a:t>
            </a:r>
          </a:p>
          <a:p>
            <a:pPr marL="457200" indent="-457200">
              <a:spcAft>
                <a:spcPts val="700"/>
              </a:spcAft>
              <a:buFont typeface="Wingdings" panose="05000000000000000000" pitchFamily="2" charset="2"/>
              <a:buChar char="v"/>
              <a:defRPr sz="2100">
                <a:solidFill>
                  <a:srgbClr val="282828"/>
                </a:solidFill>
                <a:latin typeface="Aptos"/>
              </a:defRPr>
            </a:pPr>
            <a:r>
              <a:rPr sz="2800" dirty="0"/>
              <a:t> Explain its need and importance</a:t>
            </a:r>
          </a:p>
          <a:p>
            <a:pPr marL="457200" indent="-457200">
              <a:spcAft>
                <a:spcPts val="700"/>
              </a:spcAft>
              <a:buFont typeface="Wingdings" panose="05000000000000000000" pitchFamily="2" charset="2"/>
              <a:buChar char="v"/>
              <a:defRPr sz="2100">
                <a:solidFill>
                  <a:srgbClr val="282828"/>
                </a:solidFill>
                <a:latin typeface="Aptos"/>
              </a:defRPr>
            </a:pPr>
            <a:r>
              <a:rPr sz="2800" dirty="0"/>
              <a:t> Identify major articulation points (</a:t>
            </a:r>
            <a:r>
              <a:rPr sz="2800" dirty="0" err="1"/>
              <a:t>Makharij</a:t>
            </a:r>
            <a:r>
              <a:rPr sz="2800" dirty="0"/>
              <a:t>)</a:t>
            </a:r>
          </a:p>
          <a:p>
            <a:pPr marL="457200" indent="-457200">
              <a:spcAft>
                <a:spcPts val="700"/>
              </a:spcAft>
              <a:buFont typeface="Wingdings" panose="05000000000000000000" pitchFamily="2" charset="2"/>
              <a:buChar char="v"/>
              <a:defRPr sz="2100">
                <a:solidFill>
                  <a:srgbClr val="282828"/>
                </a:solidFill>
                <a:latin typeface="Aptos"/>
              </a:defRPr>
            </a:pPr>
            <a:r>
              <a:rPr sz="2800" dirty="0"/>
              <a:t> Explain basic Tajweed rules with Qur’anic examples</a:t>
            </a:r>
          </a:p>
          <a:p>
            <a:pPr marL="457200" indent="-457200">
              <a:spcAft>
                <a:spcPts val="700"/>
              </a:spcAft>
              <a:buFont typeface="Wingdings" panose="05000000000000000000" pitchFamily="2" charset="2"/>
              <a:buChar char="v"/>
              <a:defRPr sz="2100">
                <a:solidFill>
                  <a:srgbClr val="282828"/>
                </a:solidFill>
                <a:latin typeface="Aptos"/>
              </a:defRPr>
            </a:pPr>
            <a:r>
              <a:rPr sz="2800" dirty="0"/>
              <a:t> Apply the rules in recitation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Definition of Tajweed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9968653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§"/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Tajweed is derived from the Arabic root </a:t>
            </a:r>
            <a:r>
              <a:rPr sz="2400" dirty="0" err="1"/>
              <a:t>جَوَّدَ</a:t>
            </a:r>
            <a:r>
              <a:rPr sz="2400" dirty="0"/>
              <a:t>, meaning “to make good, beautiful, or excellent.”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§"/>
              <a:defRPr sz="2100">
                <a:solidFill>
                  <a:srgbClr val="282828"/>
                </a:solidFill>
                <a:latin typeface="Aptos"/>
              </a:defRPr>
            </a:pPr>
            <a:endParaRPr sz="24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§"/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Technically, Tajweed is the science of reciting the Holy Qur’an by pronouncing every letter from its correct articulation point (</a:t>
            </a:r>
            <a:r>
              <a:rPr sz="2400" dirty="0" err="1"/>
              <a:t>Makhraj</a:t>
            </a:r>
            <a:r>
              <a:rPr sz="2400" dirty="0"/>
              <a:t>) and giving it its proper characteristics (</a:t>
            </a:r>
            <a:r>
              <a:rPr sz="2400" dirty="0" err="1"/>
              <a:t>Sifāt</a:t>
            </a:r>
            <a:r>
              <a:rPr sz="2400" dirty="0"/>
              <a:t>).</a:t>
            </a:r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§"/>
              <a:defRPr sz="2100">
                <a:solidFill>
                  <a:srgbClr val="282828"/>
                </a:solidFill>
                <a:latin typeface="Aptos"/>
              </a:defRPr>
            </a:pPr>
            <a:endParaRPr sz="24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§"/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In simple words: Reading the Qur’an correctly, clearly and beautifully according to the rules of recitation.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rPr dirty="0"/>
              <a:t>Why Is Tajweed Important?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55049"/>
            <a:ext cx="10424160" cy="2757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Ensures correct pronunciation of Qur’anic words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Helps preserve the words and sounds of the Qur’an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Follows the Prophetic method of recitation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Supports correct Qur’anic recitation in Salah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Protects the intended meaning of words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Makes recitation beautiful, clear and spiritually effective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Makharij al-Huruf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7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Makhraj</a:t>
            </a:r>
            <a:r>
              <a:rPr dirty="0"/>
              <a:t> = the articulation point from which a letter is pronounced.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Major areas: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Al-Jawf — Oral cavity: letters of Madd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Al-</a:t>
            </a:r>
            <a:r>
              <a:rPr dirty="0" err="1"/>
              <a:t>Halq</a:t>
            </a:r>
            <a:r>
              <a:rPr dirty="0"/>
              <a:t> — Throat: ء ه ع ح غ خ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Al-Lisan — Tongue: ت د ط س ص ز etc.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Ash-</a:t>
            </a:r>
            <a:r>
              <a:rPr dirty="0" err="1"/>
              <a:t>Shafatan</a:t>
            </a:r>
            <a:r>
              <a:rPr dirty="0"/>
              <a:t> — Two lips: ب م و ف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Al-</a:t>
            </a:r>
            <a:r>
              <a:rPr dirty="0" err="1"/>
              <a:t>Khayshum</a:t>
            </a:r>
            <a:r>
              <a:rPr dirty="0"/>
              <a:t> — Nasal passage: </a:t>
            </a:r>
            <a:r>
              <a:rPr dirty="0" err="1"/>
              <a:t>Ghunnah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Example: </a:t>
            </a:r>
            <a:r>
              <a:rPr dirty="0" err="1"/>
              <a:t>قُلْ</a:t>
            </a:r>
            <a:r>
              <a:rPr dirty="0"/>
              <a:t> — ق and ل have different articulation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Noon Sakinah &amp; Tanween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22400" y="1737360"/>
            <a:ext cx="9870440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Four basic rules: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1. IZHAR — Clear pronunciation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   Examples: </a:t>
            </a:r>
            <a:r>
              <a:rPr dirty="0" err="1"/>
              <a:t>مِنْهَا</a:t>
            </a:r>
            <a:r>
              <a:rPr dirty="0"/>
              <a:t> ، </a:t>
            </a:r>
            <a:r>
              <a:rPr dirty="0" err="1"/>
              <a:t>أَنْعَمْتَ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2. IDGHAM — Merging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   Letters: ي ر م ل و ن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   Examples: </a:t>
            </a:r>
            <a:r>
              <a:rPr dirty="0" err="1"/>
              <a:t>مَنْ</a:t>
            </a:r>
            <a:r>
              <a:rPr dirty="0"/>
              <a:t> </a:t>
            </a:r>
            <a:r>
              <a:rPr dirty="0" err="1"/>
              <a:t>يَقُولُ</a:t>
            </a:r>
            <a:r>
              <a:rPr dirty="0"/>
              <a:t> ، </a:t>
            </a:r>
            <a:r>
              <a:rPr dirty="0" err="1"/>
              <a:t>مِنْ</a:t>
            </a:r>
            <a:r>
              <a:rPr dirty="0"/>
              <a:t> </a:t>
            </a:r>
            <a:r>
              <a:rPr dirty="0" err="1"/>
              <a:t>رَبِّهِمْ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3. IQLAB — Conversion before ب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   Example: </a:t>
            </a:r>
            <a:r>
              <a:rPr dirty="0" err="1"/>
              <a:t>أَنْبِئْهُمْ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4. IKHFA — Partial concealment with </a:t>
            </a:r>
            <a:r>
              <a:rPr dirty="0" err="1"/>
              <a:t>Ghunnah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   Examples: </a:t>
            </a:r>
            <a:r>
              <a:rPr dirty="0" err="1"/>
              <a:t>مِنْ</a:t>
            </a:r>
            <a:r>
              <a:rPr dirty="0"/>
              <a:t> </a:t>
            </a:r>
            <a:r>
              <a:rPr dirty="0" err="1"/>
              <a:t>شَرِّ</a:t>
            </a:r>
            <a:r>
              <a:rPr dirty="0"/>
              <a:t> ، </a:t>
            </a:r>
            <a:r>
              <a:rPr dirty="0" err="1"/>
              <a:t>أَنْفُسَكُمْ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Meem Sakinah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20049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Three basic rules: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Izhar </a:t>
            </a:r>
            <a:r>
              <a:rPr sz="2400" dirty="0" err="1"/>
              <a:t>Shafawi</a:t>
            </a:r>
            <a:r>
              <a:rPr sz="2400" dirty="0"/>
              <a:t> — Meem is clear before letters other than ب and م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  Example: </a:t>
            </a:r>
            <a:r>
              <a:rPr sz="2400" dirty="0" err="1"/>
              <a:t>هُمْ</a:t>
            </a:r>
            <a:r>
              <a:rPr sz="2400" dirty="0"/>
              <a:t> </a:t>
            </a:r>
            <a:r>
              <a:rPr sz="2400" dirty="0" err="1"/>
              <a:t>فِيهَا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</a:t>
            </a:r>
            <a:r>
              <a:rPr sz="2400" dirty="0" err="1"/>
              <a:t>Idgham</a:t>
            </a:r>
            <a:r>
              <a:rPr sz="2400" dirty="0"/>
              <a:t> </a:t>
            </a:r>
            <a:r>
              <a:rPr sz="2400" dirty="0" err="1"/>
              <a:t>Shafawi</a:t>
            </a:r>
            <a:r>
              <a:rPr sz="2400" dirty="0"/>
              <a:t> — Meem merges with the following Meem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  Example: </a:t>
            </a:r>
            <a:r>
              <a:rPr sz="2400" dirty="0" err="1"/>
              <a:t>لَهُمْ</a:t>
            </a:r>
            <a:r>
              <a:rPr sz="2400" dirty="0"/>
              <a:t> </a:t>
            </a:r>
            <a:r>
              <a:rPr sz="2400" dirty="0" err="1"/>
              <a:t>مَا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• </a:t>
            </a:r>
            <a:r>
              <a:rPr sz="2400" dirty="0" err="1"/>
              <a:t>Ikhfa</a:t>
            </a:r>
            <a:r>
              <a:rPr sz="2400" dirty="0"/>
              <a:t> </a:t>
            </a:r>
            <a:r>
              <a:rPr sz="2400" dirty="0" err="1"/>
              <a:t>Shafawi</a:t>
            </a:r>
            <a:r>
              <a:rPr sz="2400" dirty="0"/>
              <a:t> — Meem is concealed before ب with </a:t>
            </a:r>
            <a:r>
              <a:rPr sz="2400" dirty="0" err="1"/>
              <a:t>Ghunnah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  Example: </a:t>
            </a:r>
            <a:r>
              <a:rPr sz="2400" dirty="0" err="1"/>
              <a:t>تَرْمِيهِمْ</a:t>
            </a:r>
            <a:r>
              <a:rPr sz="2400" dirty="0"/>
              <a:t> </a:t>
            </a:r>
            <a:r>
              <a:rPr sz="2400" dirty="0" err="1"/>
              <a:t>بِحِجَارَةٍ</a:t>
            </a:r>
            <a:endParaRPr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Madd — Prolongation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67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Madd means to prolong or stretch a sound.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Three basic Madd letters: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ا — Alif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و — Waw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ي — Ya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Madd al-</a:t>
            </a:r>
            <a:r>
              <a:rPr sz="2400" dirty="0" err="1"/>
              <a:t>Tabi‘i</a:t>
            </a:r>
            <a:r>
              <a:rPr sz="2400" dirty="0"/>
              <a:t> (Natural Madd): generally prolonged for TWO counts (Harakat).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Examples: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قَالَ</a:t>
            </a:r>
            <a:r>
              <a:rPr sz="2400" dirty="0"/>
              <a:t> — </a:t>
            </a:r>
            <a:r>
              <a:rPr sz="2400" dirty="0" err="1"/>
              <a:t>فِيهِ</a:t>
            </a:r>
            <a:r>
              <a:rPr sz="2400" dirty="0"/>
              <a:t> — </a:t>
            </a:r>
            <a:r>
              <a:rPr sz="2400" dirty="0" err="1"/>
              <a:t>يَقُولُ</a:t>
            </a:r>
            <a:endParaRPr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Ghunnah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20049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7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Ghunnah</a:t>
            </a:r>
            <a:r>
              <a:rPr dirty="0"/>
              <a:t> is a nasal sound produced through the nasal passage.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It is especially clear in: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Noon </a:t>
            </a:r>
            <a:r>
              <a:rPr dirty="0" err="1"/>
              <a:t>Mushaddad</a:t>
            </a:r>
            <a:r>
              <a:rPr dirty="0"/>
              <a:t>: </a:t>
            </a:r>
            <a:r>
              <a:rPr dirty="0" err="1"/>
              <a:t>نّ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Meem </a:t>
            </a:r>
            <a:r>
              <a:rPr dirty="0" err="1"/>
              <a:t>Mushaddad</a:t>
            </a:r>
            <a:r>
              <a:rPr dirty="0"/>
              <a:t>: </a:t>
            </a:r>
            <a:r>
              <a:rPr dirty="0" err="1"/>
              <a:t>مّ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Examples: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إِنَّ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ثُمَّ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أَنَّ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Qalqalah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7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Qalqalah = a slight echoing/bouncing sound when a Qalqalah letter is in Sukoon.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Five letters: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ق ط ب ج د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Memory phrase: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قُطْبُ</a:t>
            </a:r>
            <a:r>
              <a:rPr dirty="0"/>
              <a:t> </a:t>
            </a:r>
            <a:r>
              <a:rPr dirty="0" err="1"/>
              <a:t>جَدٍّ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Examples: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أَحَدْ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يَجْعَلْ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 err="1"/>
              <a:t>يَقْطَعُونَ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57809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Lam of Allah (اللَّه)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20049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67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The Lam in the word Allah may be heavy or light.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TAFKHIM — Heavy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When preceded by </a:t>
            </a:r>
            <a:r>
              <a:rPr sz="2400" dirty="0" err="1"/>
              <a:t>Fathah</a:t>
            </a:r>
            <a:r>
              <a:rPr sz="2400" dirty="0"/>
              <a:t> or </a:t>
            </a:r>
            <a:r>
              <a:rPr sz="2400" dirty="0" err="1"/>
              <a:t>Dammah</a:t>
            </a:r>
            <a:r>
              <a:rPr sz="2400" dirty="0"/>
              <a:t>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قَالَ</a:t>
            </a:r>
            <a:r>
              <a:rPr sz="2400" dirty="0"/>
              <a:t> </a:t>
            </a:r>
            <a:r>
              <a:rPr sz="2400" dirty="0" err="1"/>
              <a:t>اللَّهُ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عَبْدُ</a:t>
            </a:r>
            <a:r>
              <a:rPr sz="2400" dirty="0"/>
              <a:t> </a:t>
            </a:r>
            <a:r>
              <a:rPr sz="2400" dirty="0" err="1"/>
              <a:t>اللَّهِ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TARQIQ — Light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When preceded by </a:t>
            </a:r>
            <a:r>
              <a:rPr sz="2400" dirty="0" err="1"/>
              <a:t>Kasrah</a:t>
            </a:r>
            <a:r>
              <a:rPr sz="2400" dirty="0"/>
              <a:t>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بِسْمِ</a:t>
            </a:r>
            <a:r>
              <a:rPr sz="2400" dirty="0"/>
              <a:t> </a:t>
            </a:r>
            <a:r>
              <a:rPr sz="2400" dirty="0" err="1"/>
              <a:t>اللَّهِ</a:t>
            </a:r>
            <a:endParaRPr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Rules of Raa (ر)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20049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Raa can be pronounced heavy (</a:t>
            </a:r>
            <a:r>
              <a:rPr sz="2400" dirty="0" err="1"/>
              <a:t>Tafkhim</a:t>
            </a:r>
            <a:r>
              <a:rPr sz="2400" dirty="0"/>
              <a:t>) or light (</a:t>
            </a:r>
            <a:r>
              <a:rPr sz="2400" dirty="0" err="1"/>
              <a:t>Tarqiq</a:t>
            </a:r>
            <a:r>
              <a:rPr sz="2400" dirty="0"/>
              <a:t>), according to its vowel and surrounding letters.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Heavy examples: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رَبِّ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رَسُول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/>
              <a:t>Light examples: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رِزْق</a:t>
            </a:r>
            <a:endParaRPr sz="2400"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sz="2400" dirty="0" err="1"/>
              <a:t>فِرْعَوْن</a:t>
            </a:r>
            <a:endParaRPr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Quick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3718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Tajweed = Correct Qur’anic pronunciation according to established rules.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Remember: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Makharij</a:t>
            </a:r>
            <a:r>
              <a:rPr dirty="0"/>
              <a:t> — Where letters come from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Noon Sakinah &amp; </a:t>
            </a:r>
            <a:r>
              <a:rPr dirty="0" err="1"/>
              <a:t>Tanween</a:t>
            </a:r>
            <a:r>
              <a:rPr dirty="0"/>
              <a:t> — 4 rules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Meem Sakinah — 3 rules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Madd — Prolongation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Ghunnah</a:t>
            </a:r>
            <a:r>
              <a:rPr dirty="0"/>
              <a:t> — Nasal sound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Qalqalah — Echoing/bouncing sound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Tafkhim</a:t>
            </a:r>
            <a:r>
              <a:rPr dirty="0"/>
              <a:t> &amp; </a:t>
            </a:r>
            <a:r>
              <a:rPr dirty="0" err="1"/>
              <a:t>Tarqiq</a:t>
            </a:r>
            <a:r>
              <a:rPr dirty="0"/>
              <a:t> — Heavy and light pronunciation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57809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Practice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Read the following examples aloud and identify the Tajweed rule: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مِنْهَا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2. </a:t>
            </a:r>
            <a:r>
              <a:rPr dirty="0" err="1"/>
              <a:t>مَنْ</a:t>
            </a:r>
            <a:r>
              <a:rPr dirty="0"/>
              <a:t> </a:t>
            </a:r>
            <a:r>
              <a:rPr dirty="0" err="1"/>
              <a:t>يَقُولُ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3. </a:t>
            </a:r>
            <a:r>
              <a:rPr dirty="0" err="1"/>
              <a:t>أَنْبِئْهُمْ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4. </a:t>
            </a:r>
            <a:r>
              <a:rPr dirty="0" err="1"/>
              <a:t>لَهُمْ</a:t>
            </a:r>
            <a:r>
              <a:rPr dirty="0"/>
              <a:t> </a:t>
            </a:r>
            <a:r>
              <a:rPr dirty="0" err="1"/>
              <a:t>مَا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5. </a:t>
            </a:r>
            <a:r>
              <a:rPr dirty="0" err="1"/>
              <a:t>قَالَ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6. </a:t>
            </a:r>
            <a:r>
              <a:rPr dirty="0" err="1"/>
              <a:t>إِنَّ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7. </a:t>
            </a:r>
            <a:r>
              <a:rPr dirty="0" err="1"/>
              <a:t>أَحَدْ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8. </a:t>
            </a:r>
            <a:r>
              <a:rPr dirty="0" err="1"/>
              <a:t>بِسْمِ</a:t>
            </a:r>
            <a:r>
              <a:rPr dirty="0"/>
              <a:t> </a:t>
            </a:r>
            <a:r>
              <a:rPr dirty="0" err="1"/>
              <a:t>اللَّهِ</a:t>
            </a: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Task: Identify the rule and explain why it applies.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3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10972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Tajweed enables us to recite the Holy Qur’an with accuracy, clarity and beauty.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Learn the rules — listen carefully — </a:t>
            </a:r>
            <a:r>
              <a:rPr dirty="0" err="1"/>
              <a:t>practise</a:t>
            </a:r>
            <a:r>
              <a:rPr dirty="0"/>
              <a:t> repeatedly — recite correctly.</a:t>
            </a:r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endParaRPr dirty="0"/>
          </a:p>
          <a:p>
            <a:pPr>
              <a:spcAft>
                <a:spcPts val="700"/>
              </a:spcAft>
              <a:defRPr sz="2100">
                <a:solidFill>
                  <a:srgbClr val="282828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ptos"/>
              </a:defRPr>
            </a:pPr>
            <a:r>
              <a:t>Tajweed Lecture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EBE033-FC23-9848-B888-7EC406F2A815}"/>
              </a:ext>
            </a:extLst>
          </p:cNvPr>
          <p:cNvSpPr/>
          <p:nvPr/>
        </p:nvSpPr>
        <p:spPr>
          <a:xfrm>
            <a:off x="553156" y="733778"/>
            <a:ext cx="8929511" cy="5531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### Important Exam Questions – Tajweed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1. What is Tajweed? Explain its need and importance in the recitation of the Holy Qur’an.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2. What are the major </a:t>
            </a:r>
            <a:r>
              <a:rPr lang="en-US" dirty="0" err="1">
                <a:solidFill>
                  <a:schemeClr val="tx1"/>
                </a:solidFill>
              </a:rPr>
              <a:t>Makharij</a:t>
            </a:r>
            <a:r>
              <a:rPr lang="en-US" dirty="0">
                <a:solidFill>
                  <a:schemeClr val="tx1"/>
                </a:solidFill>
              </a:rPr>
              <a:t> al-</a:t>
            </a:r>
            <a:r>
              <a:rPr lang="en-US" dirty="0" err="1">
                <a:solidFill>
                  <a:schemeClr val="tx1"/>
                </a:solidFill>
              </a:rPr>
              <a:t>Huruf</a:t>
            </a:r>
            <a:r>
              <a:rPr lang="en-US" dirty="0">
                <a:solidFill>
                  <a:schemeClr val="tx1"/>
                </a:solidFill>
              </a:rPr>
              <a:t> (articulation points of Arabic letters)? Explain with examples.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3. Explain the four basic rules of Noon Sakinah and </a:t>
            </a:r>
            <a:r>
              <a:rPr lang="en-US" dirty="0" err="1">
                <a:solidFill>
                  <a:schemeClr val="tx1"/>
                </a:solidFill>
              </a:rPr>
              <a:t>Tanween</a:t>
            </a:r>
            <a:r>
              <a:rPr lang="en-US" dirty="0">
                <a:solidFill>
                  <a:schemeClr val="tx1"/>
                </a:solidFill>
              </a:rPr>
              <a:t>: Izhar, </a:t>
            </a:r>
            <a:r>
              <a:rPr lang="en-US" dirty="0" err="1">
                <a:solidFill>
                  <a:schemeClr val="tx1"/>
                </a:solidFill>
              </a:rPr>
              <a:t>Idgham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Iqlab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dirty="0" err="1">
                <a:solidFill>
                  <a:schemeClr val="tx1"/>
                </a:solidFill>
              </a:rPr>
              <a:t>Ikhfa</a:t>
            </a:r>
            <a:r>
              <a:rPr lang="en-US" dirty="0">
                <a:solidFill>
                  <a:schemeClr val="tx1"/>
                </a:solidFill>
              </a:rPr>
              <a:t>, with examples.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4. What are the rules of Meem Sakinah? Explain Izhar </a:t>
            </a:r>
            <a:r>
              <a:rPr lang="en-US" dirty="0" err="1">
                <a:solidFill>
                  <a:schemeClr val="tx1"/>
                </a:solidFill>
              </a:rPr>
              <a:t>Shafawi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Idgham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Shafawi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dirty="0" err="1">
                <a:solidFill>
                  <a:schemeClr val="tx1"/>
                </a:solidFill>
              </a:rPr>
              <a:t>Ikhfa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Shafawi</a:t>
            </a:r>
            <a:r>
              <a:rPr lang="en-US" dirty="0">
                <a:solidFill>
                  <a:schemeClr val="tx1"/>
                </a:solidFill>
              </a:rPr>
              <a:t> with examples.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5. Explain Madd, </a:t>
            </a:r>
            <a:r>
              <a:rPr lang="en-US" dirty="0" err="1">
                <a:solidFill>
                  <a:schemeClr val="tx1"/>
                </a:solidFill>
              </a:rPr>
              <a:t>Ghunnah</a:t>
            </a:r>
            <a:r>
              <a:rPr lang="en-US" dirty="0">
                <a:solidFill>
                  <a:schemeClr val="tx1"/>
                </a:solidFill>
              </a:rPr>
              <a:t>, and Qalqalah with suitable Qur’anic examples.</a:t>
            </a:r>
          </a:p>
        </p:txBody>
      </p:sp>
    </p:spTree>
    <p:extLst>
      <p:ext uri="{BB962C8B-B14F-4D97-AF65-F5344CB8AC3E}">
        <p14:creationId xmlns:p14="http://schemas.microsoft.com/office/powerpoint/2010/main" val="186515136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892</Words>
  <Application>Microsoft Office PowerPoint</Application>
  <PresentationFormat>Widescreen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Sarfaraz Ajmal</dc:creator>
  <cp:keywords/>
  <dc:description>generated using python-pptx</dc:description>
  <cp:lastModifiedBy>sarfaraz ajmal</cp:lastModifiedBy>
  <cp:revision>2</cp:revision>
  <dcterms:created xsi:type="dcterms:W3CDTF">2013-01-27T09:14:16Z</dcterms:created>
  <dcterms:modified xsi:type="dcterms:W3CDTF">2026-08-16T16:53:22Z</dcterms:modified>
  <cp:category/>
</cp:coreProperties>
</file>